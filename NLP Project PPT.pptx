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177E5-146E-4A42-ACB9-E586F80B4F79}" v="11" dt="2026-02-17T18:21:49.32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4668" y="2679300"/>
            <a:ext cx="515888" cy="51588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9293" y="1131633"/>
            <a:ext cx="537383" cy="10478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5557" y="1131633"/>
            <a:ext cx="3627342" cy="52932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20880"/>
            <a:ext cx="10312400" cy="36649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3836" y="1123492"/>
            <a:ext cx="279731" cy="38355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6097" y="1577649"/>
            <a:ext cx="4295140" cy="152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6097" y="1577649"/>
            <a:ext cx="4295140" cy="152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0320" marR="5080" indent="-8255">
              <a:lnSpc>
                <a:spcPts val="3790"/>
              </a:lnSpc>
              <a:spcBef>
                <a:spcPts val="565"/>
              </a:spcBef>
            </a:pPr>
            <a:r>
              <a:rPr sz="3500" spc="-40" dirty="0"/>
              <a:t>AI-</a:t>
            </a:r>
            <a:r>
              <a:rPr sz="3500" dirty="0"/>
              <a:t>Based</a:t>
            </a:r>
            <a:r>
              <a:rPr sz="3500" spc="-175" dirty="0"/>
              <a:t> </a:t>
            </a:r>
            <a:r>
              <a:rPr sz="3500" spc="-10" dirty="0"/>
              <a:t>Toxic </a:t>
            </a:r>
            <a:r>
              <a:rPr spc="-30" dirty="0"/>
              <a:t>Comment</a:t>
            </a:r>
            <a:r>
              <a:rPr spc="-140" dirty="0"/>
              <a:t> </a:t>
            </a:r>
            <a:r>
              <a:rPr spc="-10" dirty="0"/>
              <a:t>Detection </a:t>
            </a:r>
            <a:r>
              <a:rPr spc="-20" dirty="0"/>
              <a:t>System</a:t>
            </a:r>
            <a:r>
              <a:rPr spc="-150" dirty="0"/>
              <a:t> </a:t>
            </a:r>
            <a:r>
              <a:rPr dirty="0"/>
              <a:t>for</a:t>
            </a:r>
            <a:r>
              <a:rPr spc="-180" dirty="0"/>
              <a:t> </a:t>
            </a:r>
            <a:r>
              <a:rPr spc="-25" dirty="0"/>
              <a:t>Social</a:t>
            </a:r>
            <a:r>
              <a:rPr spc="-175" dirty="0"/>
              <a:t> </a:t>
            </a:r>
            <a:r>
              <a:rPr spc="-50" dirty="0"/>
              <a:t>Media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689893" y="3116734"/>
            <a:ext cx="3693795" cy="208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10800"/>
              </a:lnSpc>
              <a:spcBef>
                <a:spcPts val="100"/>
              </a:spcBef>
            </a:pPr>
            <a:r>
              <a:rPr sz="1750" dirty="0">
                <a:solidFill>
                  <a:srgbClr val="4B4B4B"/>
                </a:solidFill>
                <a:latin typeface="Calibri"/>
                <a:cs typeface="Calibri"/>
              </a:rPr>
              <a:t>A</a:t>
            </a:r>
            <a:r>
              <a:rPr sz="1750" spc="-9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4F4F4F"/>
                </a:solidFill>
                <a:latin typeface="Calibri"/>
                <a:cs typeface="Calibri"/>
              </a:rPr>
              <a:t>Natural</a:t>
            </a:r>
            <a:r>
              <a:rPr sz="1750" spc="-2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F4F4F"/>
                </a:solidFill>
                <a:latin typeface="Calibri"/>
                <a:cs typeface="Calibri"/>
              </a:rPr>
              <a:t>Language</a:t>
            </a:r>
            <a:r>
              <a:rPr sz="1750" spc="1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464646"/>
                </a:solidFill>
                <a:latin typeface="Calibri"/>
                <a:cs typeface="Calibri"/>
              </a:rPr>
              <a:t>Processing</a:t>
            </a:r>
            <a:r>
              <a:rPr sz="1750" spc="1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750" spc="-35" dirty="0">
                <a:solidFill>
                  <a:srgbClr val="4F4F4F"/>
                </a:solidFill>
                <a:latin typeface="Calibri"/>
                <a:cs typeface="Calibri"/>
              </a:rPr>
              <a:t>project</a:t>
            </a:r>
            <a:r>
              <a:rPr sz="1750" spc="-4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545454"/>
                </a:solidFill>
                <a:latin typeface="Calibri"/>
                <a:cs typeface="Calibri"/>
              </a:rPr>
              <a:t>by </a:t>
            </a:r>
            <a:r>
              <a:rPr sz="1750" spc="-10" dirty="0">
                <a:solidFill>
                  <a:srgbClr val="505050"/>
                </a:solidFill>
                <a:latin typeface="Calibri"/>
                <a:cs typeface="Calibri"/>
              </a:rPr>
              <a:t>Team</a:t>
            </a:r>
            <a:r>
              <a:rPr sz="1750" spc="-85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94949"/>
                </a:solidFill>
                <a:latin typeface="Calibri"/>
                <a:cs typeface="Calibri"/>
              </a:rPr>
              <a:t>members:</a:t>
            </a:r>
            <a:endParaRPr sz="1750">
              <a:latin typeface="Calibri"/>
              <a:cs typeface="Calibri"/>
            </a:endParaRPr>
          </a:p>
          <a:p>
            <a:pPr marL="12700" marR="1029335" indent="6350">
              <a:lnSpc>
                <a:spcPts val="2330"/>
              </a:lnSpc>
              <a:spcBef>
                <a:spcPts val="70"/>
              </a:spcBef>
            </a:pPr>
            <a:r>
              <a:rPr sz="1750" spc="-25" dirty="0">
                <a:solidFill>
                  <a:srgbClr val="4D4D4D"/>
                </a:solidFill>
                <a:latin typeface="Calibri"/>
                <a:cs typeface="Calibri"/>
              </a:rPr>
              <a:t>Samuel</a:t>
            </a:r>
            <a:r>
              <a:rPr sz="175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750" spc="-40" dirty="0">
                <a:solidFill>
                  <a:srgbClr val="494949"/>
                </a:solidFill>
                <a:latin typeface="Calibri"/>
                <a:cs typeface="Calibri"/>
              </a:rPr>
              <a:t>Raju</a:t>
            </a:r>
            <a:r>
              <a:rPr sz="1750" spc="-6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D4D4D"/>
                </a:solidFill>
                <a:latin typeface="Calibri"/>
                <a:cs typeface="Calibri"/>
              </a:rPr>
              <a:t>(2403A54094) </a:t>
            </a:r>
            <a:r>
              <a:rPr sz="1750" dirty="0">
                <a:solidFill>
                  <a:srgbClr val="505050"/>
                </a:solidFill>
                <a:latin typeface="Calibri"/>
                <a:cs typeface="Calibri"/>
              </a:rPr>
              <a:t>Ram</a:t>
            </a:r>
            <a:r>
              <a:rPr sz="1750" spc="-7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4B4B4B"/>
                </a:solidFill>
                <a:latin typeface="Calibri"/>
                <a:cs typeface="Calibri"/>
              </a:rPr>
              <a:t>Charan</a:t>
            </a:r>
            <a:r>
              <a:rPr sz="1750" spc="-8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94949"/>
                </a:solidFill>
                <a:latin typeface="Calibri"/>
                <a:cs typeface="Calibri"/>
              </a:rPr>
              <a:t>(2403A54101) </a:t>
            </a:r>
            <a:r>
              <a:rPr sz="1750" spc="-20" dirty="0">
                <a:solidFill>
                  <a:srgbClr val="494949"/>
                </a:solidFill>
                <a:latin typeface="Calibri"/>
                <a:cs typeface="Calibri"/>
              </a:rPr>
              <a:t>Vishnu</a:t>
            </a:r>
            <a:r>
              <a:rPr sz="17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4F4F4F"/>
                </a:solidFill>
                <a:latin typeface="Calibri"/>
                <a:cs typeface="Calibri"/>
              </a:rPr>
              <a:t>Vardhan</a:t>
            </a:r>
            <a:r>
              <a:rPr sz="1750" spc="-6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4D4D4D"/>
                </a:solidFill>
                <a:latin typeface="Calibri"/>
                <a:cs typeface="Calibri"/>
              </a:rPr>
              <a:t>(2403A54080)</a:t>
            </a:r>
            <a:endParaRPr sz="1750">
              <a:latin typeface="Calibri"/>
              <a:cs typeface="Calibri"/>
            </a:endParaRPr>
          </a:p>
          <a:p>
            <a:pPr marL="19050" marR="116205">
              <a:lnSpc>
                <a:spcPts val="2280"/>
              </a:lnSpc>
              <a:spcBef>
                <a:spcPts val="30"/>
              </a:spcBef>
            </a:pPr>
            <a:r>
              <a:rPr sz="1750" spc="-40" dirty="0">
                <a:solidFill>
                  <a:srgbClr val="494949"/>
                </a:solidFill>
                <a:latin typeface="Calibri"/>
                <a:cs typeface="Calibri"/>
              </a:rPr>
              <a:t>Project</a:t>
            </a:r>
            <a:r>
              <a:rPr sz="17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4D4D4D"/>
                </a:solidFill>
                <a:latin typeface="Calibri"/>
                <a:cs typeface="Calibri"/>
              </a:rPr>
              <a:t>guided</a:t>
            </a:r>
            <a:r>
              <a:rPr sz="1750" spc="-2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F4F4F"/>
                </a:solidFill>
                <a:latin typeface="Calibri"/>
                <a:cs typeface="Calibri"/>
              </a:rPr>
              <a:t>by:</a:t>
            </a:r>
            <a:r>
              <a:rPr sz="1750" spc="18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F4F4F"/>
                </a:solidFill>
                <a:latin typeface="Calibri"/>
                <a:cs typeface="Calibri"/>
              </a:rPr>
              <a:t>Dr.</a:t>
            </a:r>
            <a:r>
              <a:rPr sz="1750" spc="-6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750" spc="-35" dirty="0">
                <a:solidFill>
                  <a:srgbClr val="4B4B4B"/>
                </a:solidFill>
                <a:latin typeface="Calibri"/>
                <a:cs typeface="Calibri"/>
              </a:rPr>
              <a:t>Venkataramana</a:t>
            </a:r>
            <a:r>
              <a:rPr sz="1750" spc="10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4F4F4F"/>
                </a:solidFill>
                <a:latin typeface="Calibri"/>
                <a:cs typeface="Calibri"/>
              </a:rPr>
              <a:t>V </a:t>
            </a:r>
            <a:r>
              <a:rPr sz="1750" spc="-35" dirty="0">
                <a:solidFill>
                  <a:srgbClr val="494949"/>
                </a:solidFill>
                <a:latin typeface="Calibri"/>
                <a:cs typeface="Calibri"/>
              </a:rPr>
              <a:t>Presentation</a:t>
            </a:r>
            <a:r>
              <a:rPr sz="17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4D4D4D"/>
                </a:solidFill>
                <a:latin typeface="Calibri"/>
                <a:cs typeface="Calibri"/>
              </a:rPr>
              <a:t>Date:</a:t>
            </a:r>
            <a:r>
              <a:rPr sz="1750" spc="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750" spc="-60" dirty="0">
                <a:solidFill>
                  <a:srgbClr val="525252"/>
                </a:solidFill>
                <a:latin typeface="Calibri"/>
                <a:cs typeface="Calibri"/>
              </a:rPr>
              <a:t>J</a:t>
            </a:r>
            <a:r>
              <a:rPr sz="1750" spc="-2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B4B4B"/>
                </a:solidFill>
                <a:latin typeface="Calibri"/>
                <a:cs typeface="Calibri"/>
              </a:rPr>
              <a:t>8.02.2026.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4437" y="3763238"/>
            <a:ext cx="147955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25" dirty="0">
                <a:latin typeface="Calibri"/>
                <a:cs typeface="Calibri"/>
              </a:rPr>
              <a:t>Objectives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92431" y="3185538"/>
            <a:ext cx="2178685" cy="13747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765"/>
              </a:spcBef>
            </a:pPr>
            <a:r>
              <a:rPr sz="1300" dirty="0">
                <a:latin typeface="Calibri"/>
                <a:cs typeface="Calibri"/>
              </a:rPr>
              <a:t>Problem</a:t>
            </a:r>
            <a:r>
              <a:rPr sz="1300" spc="17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Statement</a:t>
            </a:r>
            <a:endParaRPr sz="1300">
              <a:latin typeface="Calibri"/>
              <a:cs typeface="Calibri"/>
            </a:endParaRPr>
          </a:p>
          <a:p>
            <a:pPr marL="126364" marR="172720" indent="-114300">
              <a:lnSpc>
                <a:spcPct val="108700"/>
              </a:lnSpc>
              <a:spcBef>
                <a:spcPts val="484"/>
              </a:spcBef>
              <a:buChar char="•"/>
              <a:tabLst>
                <a:tab pos="126364" algn="l"/>
                <a:tab pos="133350" algn="l"/>
              </a:tabLst>
            </a:pPr>
            <a:r>
              <a:rPr sz="1200" dirty="0">
                <a:latin typeface="Calibri"/>
                <a:cs typeface="Calibri"/>
              </a:rPr>
              <a:t>	</a:t>
            </a:r>
            <a:r>
              <a:rPr sz="1200" spc="-65" dirty="0">
                <a:solidFill>
                  <a:srgbClr val="565656"/>
                </a:solidFill>
                <a:latin typeface="Calibri"/>
                <a:cs typeface="Calibri"/>
              </a:rPr>
              <a:t>Growth</a:t>
            </a:r>
            <a:r>
              <a:rPr sz="1200" spc="3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sz="1200" spc="-4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 spc="-45" dirty="0">
                <a:solidFill>
                  <a:srgbClr val="565656"/>
                </a:solidFill>
                <a:latin typeface="Calibri"/>
                <a:cs typeface="Calibri"/>
              </a:rPr>
              <a:t>Facebook,</a:t>
            </a:r>
            <a:r>
              <a:rPr sz="1200" spc="5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565656"/>
                </a:solidFill>
                <a:latin typeface="Calibri"/>
                <a:cs typeface="Calibri"/>
              </a:rPr>
              <a:t>Instagram, </a:t>
            </a:r>
            <a:r>
              <a:rPr sz="1200" spc="-35" dirty="0">
                <a:solidFill>
                  <a:srgbClr val="565656"/>
                </a:solidFill>
                <a:latin typeface="Calibri"/>
                <a:cs typeface="Calibri"/>
              </a:rPr>
              <a:t>YouTube,</a:t>
            </a:r>
            <a:r>
              <a:rPr sz="1200" spc="-1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2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595959"/>
                </a:solidFill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  <a:p>
            <a:pPr marL="127000" marR="5080" indent="-114935">
              <a:lnSpc>
                <a:spcPct val="108700"/>
              </a:lnSpc>
              <a:spcBef>
                <a:spcPts val="45"/>
              </a:spcBef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200" spc="-35" dirty="0">
                <a:solidFill>
                  <a:srgbClr val="565656"/>
                </a:solidFill>
                <a:latin typeface="Calibri"/>
                <a:cs typeface="Calibri"/>
              </a:rPr>
              <a:t>Increase</a:t>
            </a:r>
            <a:r>
              <a:rPr sz="1200" dirty="0">
                <a:solidFill>
                  <a:srgbClr val="565656"/>
                </a:solidFill>
                <a:latin typeface="Calibri"/>
                <a:cs typeface="Calibri"/>
              </a:rPr>
              <a:t> in</a:t>
            </a:r>
            <a:r>
              <a:rPr sz="1200" spc="-50" dirty="0">
                <a:solidFill>
                  <a:srgbClr val="565656"/>
                </a:solidFill>
                <a:latin typeface="Calibri"/>
                <a:cs typeface="Calibri"/>
              </a:rPr>
              <a:t> CyDerbuIIying</a:t>
            </a:r>
            <a:r>
              <a:rPr sz="1200" spc="4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75757"/>
                </a:solidFill>
                <a:latin typeface="Calibri"/>
                <a:cs typeface="Calibri"/>
              </a:rPr>
              <a:t>and</a:t>
            </a:r>
            <a:r>
              <a:rPr sz="1200" spc="-10" dirty="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565656"/>
                </a:solidFill>
                <a:latin typeface="Calibri"/>
                <a:cs typeface="Calibri"/>
              </a:rPr>
              <a:t>Hate 	</a:t>
            </a:r>
            <a:r>
              <a:rPr sz="1200" spc="-10" dirty="0">
                <a:solidFill>
                  <a:srgbClr val="565656"/>
                </a:solidFill>
                <a:latin typeface="Calibri"/>
                <a:cs typeface="Calibri"/>
              </a:rPr>
              <a:t>speech</a:t>
            </a:r>
            <a:endParaRPr sz="120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165"/>
              </a:spcBef>
              <a:buClr>
                <a:srgbClr val="000000"/>
              </a:buClr>
              <a:buChar char="•"/>
              <a:tabLst>
                <a:tab pos="127635" algn="l"/>
              </a:tabLst>
            </a:pPr>
            <a:r>
              <a:rPr sz="1200" spc="-40" dirty="0">
                <a:solidFill>
                  <a:srgbClr val="565656"/>
                </a:solidFill>
                <a:latin typeface="Calibri"/>
                <a:cs typeface="Calibri"/>
              </a:rPr>
              <a:t>Inefficiency</a:t>
            </a:r>
            <a:r>
              <a:rPr sz="1200" spc="3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12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565656"/>
                </a:solidFill>
                <a:latin typeface="Calibri"/>
                <a:cs typeface="Calibri"/>
              </a:rPr>
              <a:t>manual</a:t>
            </a:r>
            <a:r>
              <a:rPr sz="1200" spc="4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65656"/>
                </a:solidFill>
                <a:latin typeface="Calibri"/>
                <a:cs typeface="Calibri"/>
              </a:rPr>
              <a:t>moderation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3388" y="3263770"/>
            <a:ext cx="2214880" cy="1491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latin typeface="Calibri"/>
                <a:cs typeface="Calibri"/>
              </a:rPr>
              <a:t>Project</a:t>
            </a:r>
            <a:r>
              <a:rPr sz="1350" spc="-7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Objectives</a:t>
            </a:r>
            <a:endParaRPr sz="1350">
              <a:latin typeface="Calibri"/>
              <a:cs typeface="Calibri"/>
            </a:endParaRPr>
          </a:p>
          <a:p>
            <a:pPr marL="126364" marR="176530" indent="-114300">
              <a:lnSpc>
                <a:spcPct val="124300"/>
              </a:lnSpc>
              <a:spcBef>
                <a:spcPts val="450"/>
              </a:spcBef>
              <a:buClr>
                <a:srgbClr val="000000"/>
              </a:buClr>
              <a:buChar char="•"/>
              <a:tabLst>
                <a:tab pos="126364" algn="l"/>
              </a:tabLst>
            </a:pP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Develop</a:t>
            </a:r>
            <a:r>
              <a:rPr sz="1050" spc="24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real-time</a:t>
            </a:r>
            <a:r>
              <a:rPr sz="1050" spc="19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web</a:t>
            </a:r>
            <a:r>
              <a:rPr sz="1050" spc="18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565656"/>
                </a:solidFill>
                <a:latin typeface="Calibri"/>
                <a:cs typeface="Calibri"/>
              </a:rPr>
              <a:t>detection application</a:t>
            </a:r>
            <a:endParaRPr sz="1050">
              <a:latin typeface="Calibri"/>
              <a:cs typeface="Calibri"/>
            </a:endParaRPr>
          </a:p>
          <a:p>
            <a:pPr marL="126364" marR="5080" indent="-114300">
              <a:lnSpc>
                <a:spcPct val="124300"/>
              </a:lnSpc>
              <a:spcBef>
                <a:spcPts val="40"/>
              </a:spcBef>
              <a:buChar char="•"/>
              <a:tabLst>
                <a:tab pos="126364" algn="l"/>
                <a:tab pos="130810" algn="l"/>
              </a:tabLst>
            </a:pPr>
            <a:r>
              <a:rPr sz="1050" dirty="0">
                <a:latin typeface="Calibri"/>
                <a:cs typeface="Calibri"/>
              </a:rPr>
              <a:t>	</a:t>
            </a: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Classify</a:t>
            </a:r>
            <a:r>
              <a:rPr sz="1050" spc="22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comments</a:t>
            </a:r>
            <a:r>
              <a:rPr sz="1050" spc="22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105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Toxic</a:t>
            </a:r>
            <a:r>
              <a:rPr sz="1050" spc="16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1050" spc="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565656"/>
                </a:solidFill>
                <a:latin typeface="Calibri"/>
                <a:cs typeface="Calibri"/>
              </a:rPr>
              <a:t>Non- </a:t>
            </a:r>
            <a:r>
              <a:rPr sz="1050" spc="-10" dirty="0">
                <a:solidFill>
                  <a:srgbClr val="565656"/>
                </a:solidFill>
                <a:latin typeface="Calibri"/>
                <a:cs typeface="Calibri"/>
              </a:rPr>
              <a:t>Toxic</a:t>
            </a:r>
            <a:endParaRPr sz="1050">
              <a:latin typeface="Calibri"/>
              <a:cs typeface="Calibri"/>
            </a:endParaRPr>
          </a:p>
          <a:p>
            <a:pPr marL="126364" marR="190500" indent="-114300">
              <a:lnSpc>
                <a:spcPct val="124300"/>
              </a:lnSpc>
              <a:spcBef>
                <a:spcPts val="45"/>
              </a:spcBef>
              <a:buClr>
                <a:srgbClr val="000000"/>
              </a:buClr>
              <a:buChar char="•"/>
              <a:tabLst>
                <a:tab pos="126364" algn="l"/>
              </a:tabLst>
            </a:pP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Display</a:t>
            </a:r>
            <a:r>
              <a:rPr sz="1050" spc="25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toxicity</a:t>
            </a:r>
            <a:r>
              <a:rPr sz="1050" spc="229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probability</a:t>
            </a:r>
            <a:r>
              <a:rPr sz="1050" spc="30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565656"/>
                </a:solidFill>
                <a:latin typeface="Calibri"/>
                <a:cs typeface="Calibri"/>
              </a:rPr>
              <a:t>score </a:t>
            </a:r>
            <a:r>
              <a:rPr sz="1050" spc="5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050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65656"/>
                </a:solidFill>
                <a:latin typeface="Calibri"/>
                <a:cs typeface="Calibri"/>
              </a:rPr>
              <a:t>harmful</a:t>
            </a:r>
            <a:r>
              <a:rPr sz="1050" spc="21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565656"/>
                </a:solidFill>
                <a:latin typeface="Calibri"/>
                <a:cs typeface="Calibri"/>
              </a:rPr>
              <a:t>words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38" y="1113853"/>
            <a:ext cx="9287632" cy="5328793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5321" y="5583859"/>
            <a:ext cx="381542" cy="4728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9945" y="1134318"/>
            <a:ext cx="279439" cy="38261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7516" y="1644832"/>
            <a:ext cx="5244867" cy="36649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2748" y="3379004"/>
            <a:ext cx="2947670" cy="12319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ct val="93900"/>
              </a:lnSpc>
              <a:spcBef>
                <a:spcPts val="295"/>
              </a:spcBef>
            </a:pPr>
            <a:r>
              <a:rPr sz="2750" spc="-10" dirty="0">
                <a:latin typeface="Calibri"/>
                <a:cs typeface="Calibri"/>
              </a:rPr>
              <a:t>Programming </a:t>
            </a:r>
            <a:r>
              <a:rPr sz="2750" dirty="0">
                <a:latin typeface="Calibri"/>
                <a:cs typeface="Calibri"/>
              </a:rPr>
              <a:t>Languages</a:t>
            </a:r>
            <a:r>
              <a:rPr sz="2750" spc="-45" dirty="0">
                <a:latin typeface="Calibri"/>
                <a:cs typeface="Calibri"/>
              </a:rPr>
              <a:t> Tools</a:t>
            </a:r>
            <a:r>
              <a:rPr sz="2750" spc="-114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and </a:t>
            </a:r>
            <a:r>
              <a:rPr sz="2750" spc="-10" dirty="0">
                <a:latin typeface="Calibri"/>
                <a:cs typeface="Calibri"/>
              </a:rPr>
              <a:t>Software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5344" y="5584369"/>
            <a:ext cx="3903979" cy="42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24300"/>
              </a:lnSpc>
              <a:spcBef>
                <a:spcPts val="100"/>
              </a:spcBef>
            </a:pPr>
            <a:r>
              <a:rPr sz="1050" dirty="0">
                <a:latin typeface="Calibri"/>
                <a:cs typeface="Calibri"/>
              </a:rPr>
              <a:t>Dataset</a:t>
            </a:r>
            <a:r>
              <a:rPr sz="1050" spc="2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&amp;</a:t>
            </a:r>
            <a:r>
              <a:rPr sz="1050" spc="9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Tools:</a:t>
            </a:r>
            <a:r>
              <a:rPr sz="1050" spc="16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Kaggle</a:t>
            </a:r>
            <a:r>
              <a:rPr sz="1050" spc="14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Toxic</a:t>
            </a:r>
            <a:r>
              <a:rPr sz="1050" spc="204" dirty="0">
                <a:latin typeface="Calibri"/>
                <a:cs typeface="Calibri"/>
              </a:rPr>
              <a:t> </a:t>
            </a:r>
            <a:r>
              <a:rPr sz="1050" spc="45" dirty="0">
                <a:latin typeface="Calibri"/>
                <a:cs typeface="Calibri"/>
              </a:rPr>
              <a:t>Comment</a:t>
            </a:r>
            <a:r>
              <a:rPr sz="1050" spc="20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Dataset,</a:t>
            </a:r>
            <a:r>
              <a:rPr sz="1050" spc="15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VS</a:t>
            </a:r>
            <a:r>
              <a:rPr sz="1050" spc="9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Code,</a:t>
            </a:r>
            <a:r>
              <a:rPr sz="1050" spc="16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GitHub, </a:t>
            </a:r>
            <a:r>
              <a:rPr sz="1050" dirty="0">
                <a:latin typeface="Calibri"/>
                <a:cs typeface="Calibri"/>
              </a:rPr>
              <a:t>And</a:t>
            </a:r>
            <a:r>
              <a:rPr sz="1050" spc="15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Postman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5342" y="3569573"/>
            <a:ext cx="2528570" cy="8375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7620">
              <a:lnSpc>
                <a:spcPts val="3090"/>
              </a:lnSpc>
              <a:spcBef>
                <a:spcPts val="375"/>
              </a:spcBef>
            </a:pPr>
            <a:r>
              <a:rPr sz="2750" spc="-60" dirty="0">
                <a:latin typeface="Calibri"/>
                <a:cs typeface="Calibri"/>
              </a:rPr>
              <a:t>Front-</a:t>
            </a:r>
            <a:r>
              <a:rPr sz="2750" spc="-35" dirty="0">
                <a:latin typeface="Calibri"/>
                <a:cs typeface="Calibri"/>
              </a:rPr>
              <a:t>End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-35" dirty="0">
                <a:latin typeface="Calibri"/>
                <a:cs typeface="Calibri"/>
              </a:rPr>
              <a:t>View</a:t>
            </a:r>
            <a:r>
              <a:rPr sz="2750" spc="-13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of </a:t>
            </a:r>
            <a:r>
              <a:rPr sz="2750" spc="-114" dirty="0">
                <a:latin typeface="Calibri"/>
                <a:cs typeface="Calibri"/>
              </a:rPr>
              <a:t>Web</a:t>
            </a:r>
            <a:r>
              <a:rPr sz="2750" spc="-10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Application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3219" y="3342665"/>
            <a:ext cx="32727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5" dirty="0">
                <a:latin typeface="Calibri"/>
                <a:cs typeface="Calibri"/>
              </a:rPr>
              <a:t>Comment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30" dirty="0">
                <a:solidFill>
                  <a:srgbClr val="181818"/>
                </a:solidFill>
                <a:latin typeface="Calibri"/>
                <a:cs typeface="Calibri"/>
              </a:rPr>
              <a:t>Input</a:t>
            </a:r>
            <a:r>
              <a:rPr sz="1000" spc="-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000" spc="-30" dirty="0">
                <a:latin typeface="Calibri"/>
                <a:cs typeface="Calibri"/>
              </a:rPr>
              <a:t>Interface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45" dirty="0">
                <a:latin typeface="Calibri"/>
                <a:cs typeface="Calibri"/>
              </a:rPr>
              <a:t>with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30" dirty="0">
                <a:latin typeface="Calibri"/>
                <a:cs typeface="Calibri"/>
              </a:rPr>
              <a:t>Text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35" dirty="0">
                <a:latin typeface="Calibri"/>
                <a:cs typeface="Calibri"/>
              </a:rPr>
              <a:t>Box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 </a:t>
            </a:r>
            <a:r>
              <a:rPr sz="1000" spc="-40" dirty="0">
                <a:latin typeface="Calibri"/>
                <a:cs typeface="Calibri"/>
              </a:rPr>
              <a:t>Analyze/Clear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buttons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2971" y="3736336"/>
            <a:ext cx="299847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latin typeface="Calibri"/>
                <a:cs typeface="Calibri"/>
              </a:rPr>
              <a:t>Toxicity</a:t>
            </a:r>
            <a:r>
              <a:rPr sz="950" spc="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Score</a:t>
            </a:r>
            <a:r>
              <a:rPr sz="950" spc="-10" dirty="0">
                <a:latin typeface="Calibri"/>
                <a:cs typeface="Calibri"/>
              </a:rPr>
              <a:t> visualization</a:t>
            </a:r>
            <a:r>
              <a:rPr sz="950" spc="2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with progress bar</a:t>
            </a:r>
            <a:r>
              <a:rPr sz="950" spc="-40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(Example:</a:t>
            </a:r>
            <a:r>
              <a:rPr sz="950" spc="1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879t)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3219" y="4117306"/>
            <a:ext cx="21996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Calibri"/>
                <a:cs typeface="Calibri"/>
              </a:rPr>
              <a:t>Classification</a:t>
            </a:r>
            <a:r>
              <a:rPr sz="1000" spc="-60" dirty="0">
                <a:latin typeface="Calibri"/>
                <a:cs typeface="Calibri"/>
              </a:rPr>
              <a:t> </a:t>
            </a:r>
            <a:r>
              <a:rPr sz="1000" spc="-35" dirty="0">
                <a:latin typeface="Calibri"/>
                <a:cs typeface="Calibri"/>
              </a:rPr>
              <a:t>Result: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Toxic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spc="-145" dirty="0">
                <a:solidFill>
                  <a:srgbClr val="111111"/>
                </a:solidFill>
                <a:latin typeface="Calibri"/>
                <a:cs typeface="Calibri"/>
              </a:rPr>
              <a:t>/</a:t>
            </a:r>
            <a:r>
              <a:rPr sz="1000" spc="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000" spc="-40" dirty="0">
                <a:latin typeface="Calibri"/>
                <a:cs typeface="Calibri"/>
              </a:rPr>
              <a:t>Non-</a:t>
            </a:r>
            <a:r>
              <a:rPr sz="1000" spc="-25" dirty="0">
                <a:latin typeface="Calibri"/>
                <a:cs typeface="Calibri"/>
              </a:rPr>
              <a:t>Toxic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labels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3947" y="4504625"/>
            <a:ext cx="30714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5" dirty="0">
                <a:latin typeface="Calibri"/>
                <a:cs typeface="Calibri"/>
              </a:rPr>
              <a:t>Highlighted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harmful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words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such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as</a:t>
            </a:r>
            <a:r>
              <a:rPr sz="1000" spc="-45" dirty="0">
                <a:latin typeface="Calibri"/>
                <a:cs typeface="Calibri"/>
              </a:rPr>
              <a:t> </a:t>
            </a:r>
            <a:r>
              <a:rPr sz="1000" spc="-40" dirty="0">
                <a:latin typeface="Calibri"/>
                <a:cs typeface="Calibri"/>
              </a:rPr>
              <a:t>"stupid",</a:t>
            </a:r>
            <a:r>
              <a:rPr sz="1000" spc="45" dirty="0">
                <a:latin typeface="Calibri"/>
                <a:cs typeface="Calibri"/>
              </a:rPr>
              <a:t> </a:t>
            </a:r>
            <a:r>
              <a:rPr sz="1000" spc="-100" dirty="0">
                <a:latin typeface="Calibri"/>
                <a:cs typeface="Calibri"/>
              </a:rPr>
              <a:t>"hate™,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and</a:t>
            </a:r>
            <a:r>
              <a:rPr sz="1000" spc="-40" dirty="0">
                <a:latin typeface="Calibri"/>
                <a:cs typeface="Calibri"/>
              </a:rPr>
              <a:t> "idiot™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5935" y="5209246"/>
            <a:ext cx="3435985" cy="946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50" spc="-245" dirty="0">
                <a:latin typeface="Arial"/>
                <a:cs typeface="Arial"/>
              </a:rPr>
              <a:t>Thank</a:t>
            </a:r>
            <a:r>
              <a:rPr sz="6050" spc="-254" dirty="0">
                <a:latin typeface="Arial"/>
                <a:cs typeface="Arial"/>
              </a:rPr>
              <a:t> </a:t>
            </a:r>
            <a:r>
              <a:rPr sz="6050" spc="-425" dirty="0">
                <a:latin typeface="Arial"/>
                <a:cs typeface="Arial"/>
              </a:rPr>
              <a:t>You</a:t>
            </a:r>
            <a:endParaRPr sz="605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166</Words>
  <Application>Microsoft Office PowerPoint</Application>
  <PresentationFormat>Custom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Rishikesh Nampally</cp:lastModifiedBy>
  <cp:revision>2</cp:revision>
  <dcterms:created xsi:type="dcterms:W3CDTF">2026-02-17T18:18:25Z</dcterms:created>
  <dcterms:modified xsi:type="dcterms:W3CDTF">2026-02-17T18:22:35Z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LastSaved">
    <vt:filetime>2026-02-17T00:00:00Z</vt:filetime>
  </property>
  <property fmtid="{D5CDD505-2E9C-101B-9397-08002B2CF9AE}" pid="4" name="Producer">
    <vt:lpwstr>3-Heights(TM) PDF Security Shell 4.8.25.2 (http://www.pdf-tools.com)</vt:lpwstr>
  </property>
</Properties>
</file>